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s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554480" cy="1554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UNIVERSIDAD DE SANTIAGO DE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Facultad de Ingeniería — Departamento de Ingeniería Informática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Magíster en 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0367C"/>
                </a:solidFill>
                <a:latin typeface="Calibri"/>
              </a:defRPr>
            </a:pPr>
            <a:r>
              <a:t>Maximum Clique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1">
                <a:solidFill>
                  <a:srgbClr val="333333"/>
                </a:solidFill>
                <a:latin typeface="Calibri"/>
              </a:defRPr>
            </a:pPr>
            <a:r>
              <a:t>Método exacto, metaheurística y contraste de resultados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A291C"/>
                </a:solidFill>
                <a:latin typeface="Calibri"/>
              </a:defRPr>
            </a:pPr>
            <a:r>
              <a:t>Optimización en Ingeniería  —  Informes 1 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333333"/>
                </a:solidFill>
                <a:latin typeface="Calibri"/>
              </a:defRPr>
            </a:pPr>
            <a:r>
              <a:t>Profesores: Mónica Villanueva, Mario Inostroza  —  Ayudante: Sebastián Aliaga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33333"/>
                </a:solidFill>
                <a:latin typeface="Calibri"/>
              </a:defRPr>
            </a:pPr>
            <a:r>
              <a:t>Santiago, julio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  <a:latin typeface="Calibri"/>
              </a:defRPr>
            </a:pPr>
            <a: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El problema: Maximum Clique Problem (MCP) y su complejidad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Contextos de aplicación y objetivos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1 — Método exacto: formulación ILP, Branch &amp; Bound,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Parte 2 — Metaheurística: diseño, Búsqueda Tabú + reinicio, resultados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Contraste de resultados: calidad, tiempo y el compromiso garantía–escalabilidad</a:t>
            </a:r>
          </a:p>
          <a:p>
            <a:pPr>
              <a:lnSpc>
                <a:spcPct val="150000"/>
              </a:lnSpc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•  Conclusiones y trabajo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El problema: Maximum Clique Problem (MCP)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Dado un grafo no dirigido G = (V, E), un clique es un subconjunto C ⊆ V donde todos los vértices están mutuamente conectados. El MCP busca el clique de mayor cardinalidad:  ω(G) = |C*|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09728" cy="3566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 computacional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NP-duro (Bomze et al., 1999; Pardalos &amp; Xue, 1994).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No aproximable en tiempo polinomial dentro de un factor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constante, salvo que P = NP.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Resoluble en tiempo polinomial solo en clases especiales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(grafos perfectos, bipartitos, de intervalos).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468880"/>
            <a:ext cx="5394960" cy="35661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468880"/>
            <a:ext cx="109728" cy="35661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Equivalencias clásicas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5468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Clique máximo en G = Independent Set máximo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en el complemento de G.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Vertex Cover mínimo en G = V menos el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Independent Set máximo (mismo grafo G).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Esta dualidad es la base de varias familias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de algoritmos exactos y heurísticos.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Contextos de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66928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49377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Teoría de códigos correctores de errores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G_{n,d}: vértices = palabras binarias de longitud n;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aristas = pares con distancia de Hamming ≥ d.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Clique máximo en G_{n,d} = código óptimo de tamaño A(n,d).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Familia Keller (usada en este trabajo): teselaciones 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R^n por hipercubos unitarios trasladados.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109728" cy="49377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41732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Bioinformática — Alineamiento molecular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Subestructura común máxima (MCS) entre dos moléculas.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Grafo de productos G_P: vértices = pares (a,b) atómicamente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compatibles; aristas = distancias internas consistentes.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Aplicación: docking molecular, descubrimiento de fármacos,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identificación de farmacóforos comunes.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Objetivos y pregunta de investigación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46304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Resolver el MCP mediante dos paradigmas —un método exacto (ILP + Branch &amp; Bound)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y una metaheurística de búsqueda local (Búsqueda Tabú + reinicio)— y contrastar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sus resultados en términos de calidad de solución y tiempo de cómputo.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Objetivos específicos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0911535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Formular e implementar el ILP del MCP y resolverlo con HiGHS sobre keller4 (DIMACS).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Diseñar e implementar una Búsqueda Tabú con reinicio sobre la vecindad Add/Drop/Swap.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ambos enfoques sobre instancias de distinto tamaño y densidad.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Contrastar sistemáticamente calidad, tiempo y garantías de optimalidad.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Pregunta de investigación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9788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¿En qué medida una metaheurística de búsqueda local relativamente simple iguala la calidad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 un método exacto para el MCP mientras reduce drásticamente el tiempo de cómputo,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y qué se sacrifica —en términos de garantías— al hacerlo?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1 · INFORME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Método Exacto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Programación Lineal Entera (ILP) resuelta por Ramificación y Acotamiento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Formulación del MCP como 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333333"/>
                </a:solidFill>
                <a:latin typeface="Calibri"/>
              </a:defRPr>
            </a:pPr>
            <a:r>
              <a:t>Variable de decisión:  xᵢ = 1 ⇔ vértice i ∈ clique,  xᵢ = 0 en caso contrario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10972800" cy="822960"/>
          </a:xfrm>
          <a:prstGeom prst="round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367C"/>
                </a:solidFill>
                <a:latin typeface="Calibri"/>
              </a:defRPr>
            </a:pPr>
            <a:r>
              <a:t>Función objetivo:   máx   z = Σᵢ∈V  xᵢ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adyacencia: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+ xⱼ ≤ 1     ∀ (i,j) ∈ Ē      (Ē = pares NO adyacentes)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33333"/>
                </a:solidFill>
                <a:latin typeface="Calibri"/>
              </a:defRPr>
            </a:pPr>
            <a:r>
              <a:t>Restricciones de integralidad: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333333"/>
                </a:solidFill>
                <a:latin typeface="Calibri"/>
              </a:defRPr>
            </a:pPr>
            <a:r>
              <a:t>xᵢ ∈ {0, 1}     ∀ i ∈ 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10911535" cy="118872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120640"/>
            <a:ext cx="109728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Resolución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Python + Pyomo (modelado algebraico) + HiGHS (solver MIP — Mixed Integer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Programming —: Branch &amp; Bound con planos de corte y heurísticas de factibilidad internas).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Resultados: keller4 (171v, 9 435 aristas, ω=11)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37160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HiGHS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GLPK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Mejor solución (ω)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&gt; 300 s (timeout)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Óptimo probado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Factible, sin probar optimalidad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383280"/>
            <a:ext cx="109728" cy="14630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Hallazgo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Ambos solvers encuentran ω = 11, pero solo HiGHS certifica optimalidad en tiempo razonable.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diferencia se explica por preprocesamiento, cortes (Gomory/MIR), heurísticas de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factibilidad y ramificación adaptativa — técnicas ausentes en GLPK (GNU Linear Programming Kit).</a:t>
            </a:r>
          </a:p>
        </p:txBody>
      </p:sp>
      <p:pic>
        <p:nvPicPr>
          <p:cNvPr id="11" name="Picture 10" descr="resultados_keller4_py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892040"/>
            <a:ext cx="3352662" cy="1417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Relajación LP y brecha de integralidad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Se reemplaza xᵢ ∈ {0,1} por xᵢ ∈ [0,1] y se resuelve el LP (Linear Programming) continuo.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468880" y="1965960"/>
          <a:ext cx="7223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36118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Cota LP (relajación)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85.50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Solución entera (ILP)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Brecha de integralidad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87.1 %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749039"/>
            <a:ext cx="9966960" cy="20116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3749039"/>
            <a:ext cx="109728" cy="20116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886199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Implicación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34839"/>
            <a:ext cx="9509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cota LP es muy floja (87.1 % de brecha): no captura la combinatoria del problema.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El solver debe explorar un árbol B&amp;B extenso para cerrar la brecha.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Esta debilidad de la formulación estándar del MCP motiva explorar métodos alternativos —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como la metaheurística de la Parte 2— para instancias donde el árbol se vuelve inviable.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PARTE 2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Metaheurística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Búsqueda Tabú con reinicio por perturbación (estilo Búsqueda Local Iterada)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Diseño de la metaheurística (base: Tarea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17373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Representación y 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 ⊆ V, siempre un clique válido de G (factibilidad por construcción).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f(S) = |S|,  a maximizar.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C(S) = vértices fuera de S adyacentes a TODO S (candidatos a agregar).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367C"/>
                </a:solidFill>
                <a:latin typeface="Calibri"/>
              </a:defRPr>
            </a:pPr>
            <a:r>
              <a:t>Vecindad N(S): tres movimientos, todos cerrados en el espacio de cliques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1091153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Add(v): agrega v ∈ C(S) — incrementa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Drop(u): elimina u ∈ S — decrementa f en 1.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•  Swap(u,v): intercambia u por v — mantiene f, cambia C(S) (permite escapar de óptimos locales).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Complejidad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Cálculo de N(S) vectorizado con matriz de adyacencia: O(n·k), n=|V|, k=|S|.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Algoritmo: Búsqueda Tabú con reinicio (ILS)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12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En cada iteración, se prioriza en orden: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C(S) ≠ ∅ → aplicar Add (siempre mejorante, casi nunca se rechaza).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S es maximal pero hay Swap disponible → aplicar el que maximiza |C(S')|.</a:t>
            </a:r>
          </a:p>
          <a:p>
            <a:pPr lvl="1">
              <a:lnSpc>
                <a:spcPct val="130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–  Si no hay Add ni Swap → forzar un Drop aleatorio (diversificación).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Lista tabú: un vértice recién eliminado no puede re-agregarse durante tenure iteraciones.</a:t>
            </a:r>
          </a:p>
          <a:p>
            <a:pPr>
              <a:lnSpc>
                <a:spcPct val="130000"/>
              </a:lnSpc>
              <a:spcAft>
                <a:spcPts val="8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•  Reinicio (ILS): si el incumbente no mejora en stall_limit iteraciones, se elimina una fracción aleatoria de S (10–30 %) y se reconstruye de forma voraz.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911535" cy="82296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109728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2356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Parámetros usados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72200"/>
            <a:ext cx="10454335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tenure = 10        stall_limit = 200        perturbación ∈ [0.1, 0.3]        max_iter =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Instancias y protocolo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13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1371600"/>
          <a:ext cx="9784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16"/>
                <a:gridCol w="1956816"/>
                <a:gridCol w="1956816"/>
                <a:gridCol w="1956816"/>
                <a:gridCol w="1956816"/>
              </a:tblGrid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|V|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|E|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Densidad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ω(G) conocido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9 435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0.6491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6 963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0.8985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108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C125.9 se incorpora respecto al Informe 1 por ser considerablemente más densa: un Branch &amp; Bound manual (PyBnB) no logró certificar optimalidad en 300 s sobre esta instancia (232 953 nodos explorados).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06240"/>
            <a:ext cx="10545775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420624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101800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Protocolo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92040"/>
            <a:ext cx="100885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30 corridas independientes por instancia (semillas 0–29).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Se registra: tamaño final, iteración/tiempo hasta la mejor solución, N° de perturbaciones.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Cada solución se valida verificando C(|S*|,2) aristas en el subgrafo inducido.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Resultados agregados (30 corridas)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14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371600"/>
          <a:ext cx="10149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Tasa de éxito (f(S*)=ω)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93.3 % (28/30)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96.7 % (29/30)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Tamaño medio ± desv. estándar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Tiempo medio hasta mejor solución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Iteraciones medias hasta mejor solución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556.3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632.3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749039"/>
            <a:ext cx="10149840" cy="155448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749039"/>
            <a:ext cx="109728" cy="155448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886199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Lectura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39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 ambas instancias, el óptimo se alcanza en la gran mayoría de las corridas; cuando no,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la solución queda a 1-2 vértices de distancia. El tiempo hasta la mejor solución es</a:t>
            </a:r>
          </a:p>
          <a:p>
            <a:pPr>
              <a:spcAft>
                <a:spcPts val="4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del orden de centésimas de segundo — prácticamente insensible a la dificultad de la instancia.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Experimento de ablación: efecto del mecanismo de reinicio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15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333333"/>
                </a:solidFill>
                <a:latin typeface="Calibri"/>
              </a:defRPr>
            </a:pPr>
            <a:r>
              <a:t>Comparación controlada: Búsqueda Tabú pura (stall_limit→∞) vs. con reinicio tipo ILS, mismas 30 semillas.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03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keller4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Tasa éxito C125.9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Tamaño medio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Sin reinicio (Tabú puro)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73.3 %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10.57 ± 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66.7 %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33.40 ± 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Con reinicio (Tabú+ILS)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93.3 %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10.90 ± 0.40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96.7 %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sz="1300">
                          <a:solidFill>
                            <a:srgbClr val="333333"/>
                          </a:solidFill>
                          <a:latin typeface="Calibri"/>
                        </a:rPr>
                        <a:t>33.97 ± 0.18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31920"/>
            <a:ext cx="11064240" cy="173736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09728" cy="17373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Conclusión del experimento de ablación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El reinicio por perturbación mejora la tasa de éxito en 20–30 puntos porcentuales y reduce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la desviación estándar del tamaño final en 48 % (keller4) y 84 % (C125.9). El efecto es mayor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en C125.9 (más densa): sin diversificación explícita, el Tabú puro queda atrapado en plateaus.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Convergencia y clique encontrado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16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333333"/>
                </a:solidFill>
                <a:latin typeface="Calibri"/>
              </a:defRPr>
            </a:pPr>
            <a:r>
              <a:t>Patrón característico de plateaus: expansión voraz, estancamiento en Swap y salto al óptimo tras una perturbación.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keller4 (ω =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261872"/>
            <a:ext cx="5623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00367C"/>
                </a:solidFill>
                <a:latin typeface="Calibri"/>
              </a:defRPr>
            </a:pPr>
            <a:r>
              <a:t>C125.9 (ω = 34)</a:t>
            </a:r>
          </a:p>
        </p:txBody>
      </p:sp>
      <p:pic>
        <p:nvPicPr>
          <p:cNvPr id="9" name="Picture 8" descr="convergencia_kelle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572768"/>
            <a:ext cx="3127248" cy="2010374"/>
          </a:xfrm>
          <a:prstGeom prst="rect">
            <a:avLst/>
          </a:prstGeom>
        </p:spPr>
      </p:pic>
      <p:pic>
        <p:nvPicPr>
          <p:cNvPr id="10" name="Picture 9" descr="convergencia_C125.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9228" y="1572768"/>
            <a:ext cx="3127248" cy="2010374"/>
          </a:xfrm>
          <a:prstGeom prst="rect">
            <a:avLst/>
          </a:prstGeom>
        </p:spPr>
      </p:pic>
      <p:pic>
        <p:nvPicPr>
          <p:cNvPr id="11" name="Picture 10" descr="grafo_clique_keller4_tab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7"/>
            <a:ext cx="2514600" cy="2514600"/>
          </a:xfrm>
          <a:prstGeom prst="rect">
            <a:avLst/>
          </a:prstGeom>
        </p:spPr>
      </p:pic>
      <p:pic>
        <p:nvPicPr>
          <p:cNvPr id="12" name="Picture 11" descr="grafo_clique_C125.9_tab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3675887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914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CFD8E8"/>
                </a:solidFill>
                <a:latin typeface="Calibri"/>
              </a:defRPr>
            </a:pPr>
            <a:r>
              <a:t>COMPARATIVA · INFORME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Contraste de Resultados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1">
                <a:solidFill>
                  <a:srgbClr val="FFFFFF"/>
                </a:solidFill>
                <a:latin typeface="Calibri"/>
              </a:defRPr>
            </a:pPr>
            <a:r>
              <a:t>Método exacto (Informe 1) vs. metaheurística (Informe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Contraste: método exacto vs. metaheurística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18 / 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Instancia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ω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¿Óptimo probado?</a:t>
                      </a:r>
                    </a:p>
                  </a:txBody>
                  <a:tcPr>
                    <a:solidFill>
                      <a:srgbClr val="00367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ILP + HiGHS (Informe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12–18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keller4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0.021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(28/30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B&amp;B manual, PyBnB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300 s (timeout)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C125.9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Tabú + ILS (Informe 2)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0.025 s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No (29/30 óptimas)</a:t>
                      </a:r>
                    </a:p>
                  </a:txBody>
                  <a:tcPr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3931920"/>
            <a:ext cx="11064240" cy="1097280"/>
          </a:xfrm>
          <a:prstGeom prst="rect">
            <a:avLst/>
          </a:prstGeom>
          <a:solidFill>
            <a:srgbClr val="EAEAEA"/>
          </a:solidFill>
          <a:ln w="1905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0972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A291C"/>
                </a:solidFill>
                <a:latin typeface="Calibri"/>
              </a:defRPr>
            </a:pPr>
            <a:r>
              <a:t>Nota metodológica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HiGHS combina B&amp;B con cortes y heurísticas (B&amp;B asistido); el B&amp;B manual de C125.9 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Ramificación y Acotamiento pura (solo relajación LP + branching), la comparación más limpia.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Tiempo de cómputo: el compromiso garantía–escalabilidad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19 / 21</a:t>
            </a:r>
          </a:p>
        </p:txBody>
      </p:sp>
      <p:pic>
        <p:nvPicPr>
          <p:cNvPr id="6" name="Picture 5" descr="comparacion_tiem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143000"/>
            <a:ext cx="5467349" cy="374903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983480"/>
            <a:ext cx="10911535" cy="1417320"/>
          </a:xfrm>
          <a:prstGeom prst="rect">
            <a:avLst/>
          </a:prstGeom>
          <a:solidFill>
            <a:srgbClr val="EAEAEA"/>
          </a:solidFill>
          <a:ln w="19050">
            <a:solidFill>
              <a:srgbClr val="0036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83480"/>
            <a:ext cx="109728" cy="141732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45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67C"/>
                </a:solidFill>
                <a:latin typeface="Calibri"/>
              </a:defRPr>
            </a:pPr>
            <a:r>
              <a:t>Hallazgo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45433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En keller4 la metaheurística es ~711× más rápida que HiGHS; en C125.9, ~11 900× más rápida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que el B&amp;B manual (que ni siquiera certifica optimalidad). El método exacto certifica el óptimo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cuando logra cerrar el árbol, pero su costo crece sin control con la dificultad de la instancia;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la metaheurística es casi insensible a esa dificultad, a costa de no ofrecer esa garantía.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362895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228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0367C"/>
                </a:solidFill>
                <a:latin typeface="Calibri"/>
              </a:defRPr>
            </a:pPr>
            <a:r>
              <a:t>Conclusiones principales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método exacto certifica ω=11 en keller4 (12–18 s), pero su costo crece sin control en instancias densas.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La metaheurística Tabú+ILS, construida sobre el diseño de Tarea 1, alcanza el óptimo en 93–97 % de las corridas.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mecanismo de reinicio (ILS) es indispensable: sin él, la tasa de éxito cae 20–30 puntos.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El contraste confirma el compromiso teórico garantía vs. escalabilidad entre ambos paradigmas.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A291C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91153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Evaluar sobre instancias DIMACS de mayor tamaño (n &gt; 500).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Comparar contra VNS (Hansen &amp; Mladenović, 2007) sobre las mismas vecindades Add/Drop/Swap.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 Ajuste reactivo del tenure; certificar C125.9 con un solver MIP formal (HiGHS).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333333"/>
                </a:solidFill>
                <a:latin typeface="Calibri"/>
              </a:defRPr>
            </a:pPr>
            <a:r>
              <a:t>Maximum Clique Problem — Optimización en Ingeniería — USACH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6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137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1">
                <a:solidFill>
                  <a:srgbClr val="FFFFFF"/>
                </a:solidFill>
                <a:latin typeface="Calibri"/>
              </a:defRPr>
            </a:pPr>
            <a:r>
              <a:t>Gracias por su atención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Calibri"/>
              </a:defRPr>
            </a:pPr>
            <a:r>
              <a:t>Ricardo Riveros  •  Gonzalo Ahumada  •  Daniel Muñoz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Optimización en Ingeniería — USACH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