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sach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UNIVERSIDAD DE SANTIAGO DE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Facultad de Ingeniería — Departamento de Ingeniería Informática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Magíster en 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367C"/>
                </a:solidFill>
                <a:latin typeface="Calibri"/>
              </a:defRPr>
            </a:pPr>
            <a:r>
              <a:t>Maximum Clique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333333"/>
                </a:solidFill>
                <a:latin typeface="Calibri"/>
              </a:defRPr>
            </a:pPr>
            <a:r>
              <a:t>Resolución exacta mediante Programación Lineal Entera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A291C"/>
                </a:solidFill>
                <a:latin typeface="Calibri"/>
              </a:defRPr>
            </a:pPr>
            <a:r>
              <a:t>Optimización en Ingeniería  —  Informe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Profesora: Mónica Villanueva  —  Ayudante: Sebastián Aliaga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Calibri"/>
              </a:defRPr>
            </a:pPr>
            <a:r>
              <a:t>Santiago,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Definición del problema y complejidad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Contextos de aplicación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Objetivos y pregunta de investigación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Estado del arte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Formulación matemática (ILP y Motzkin–Straus)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Implementación: Pyomo + HiGHS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Resultados experimentales sobre keller4 (DIMACS)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Comparativa de solvers HiGHS vs GLPK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Análisis de la relajación LP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Discusión, conclusiones y trabajo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¿Qué es el Maximum Clique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Dado un grafo no dirigido G = (V, E), un clique es un subconjunto C ⊆ V tal que todos sus vértices están conectados entre sí.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El MCP busca encontrar el clique de mayor cardinalidad:  ω(G) = |C*|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08960"/>
            <a:ext cx="5486400" cy="228600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08960"/>
            <a:ext cx="109728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Ejemplo intuitivo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Red social: cada persona es un nodo, cada amistad una arista.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Un clique = grupo donde TODOS se conocen entre sí.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El MCP busca el grupo más numeroso con esa propiedad.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108960"/>
            <a:ext cx="5212080" cy="228600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3108960"/>
            <a:ext cx="109728" cy="2286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2461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Equivalencias clásicas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7947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Maximum Independent Set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Minimum Vertex Cover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(equivalentes vía complemento del grafo)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Complejidad computacional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MCP pertenece a la clase NP-dura (Bomze et al., 1999; Pardalos &amp; Xue, 1994).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El tiempo computacional crece exponencialmente con |V|.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No se conoce un algoritmo polinomial para instancias arbitrarias.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Más aún: no es aproximable en tiempo polinomial dentro de un factor constante, a menos que P = NP.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Sin embargo, es resoluble en tiempo polinomial en clases especiales: grafos perfectos, bipartitos, de intervalos, triangulados.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Contextos de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9377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Teoría de códigos correctores de 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G_{n,d}: vértices = palabras binarias de longitud n,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aristas = pares con distancia Hamming ≥ 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Clique máximo en G_{n,d} = código óptimo de tamaño A(n,d).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Familia Keller (usada en este trabajo): teselaciones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del espacio R^n por hipercubos unitarios trasladados.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4937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Bioinformática — Alineamiento molecular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Subestructura común máxima (MCS) entre dos moléculas.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de productos G_P: vértices = pares (a,b)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atómicamente compatibles; aristas = distancias internas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consistentes.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Aplicación: docking molecular, descubrimiento de fármacos,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identificación de farmacóforos comunes.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Objetivos y pregunta de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6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5544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5544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Formular el MCP como un Programa Lineal Entero (ILP) y resolverlo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de manera exacta sobre una instancia representativa del benchmark DIMACS,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evaluando la calidad de la formulación mediante su relajación lineal continua.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Objetivos específicos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0911535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Implementar el modelo ILP en Python con Pyomo.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Resolver la instancia keller4 con el solver HiGHS (Branch &amp; Bound + cortes + heurísticas).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Calcular y analizar la brecha de integralidad entre la solución entera y la relajación continua.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109728" cy="13716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6636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Pregunta de investigación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1500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¿Es suficiente la formulación ILP estándar del MCP, resuelta con un solver MIP moderno,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para alcanzar la solución óptima conocida de una instancia densa DIMACS en tiempo razonable,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y qué calidad ofrece su relajación lineal continua como cota superior?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Estado del arte — Métodos de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51206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51206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Métodos exactos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Branch &amp; Bound — base algorítmica desde Carraghan &amp; Pardalos (1990).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Solvers especializados: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cliquer (Östergård)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MCR (Tomita)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BBMC (San Segundo)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Reformulación reciente: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decisión parametrizada por k (Szabó &amp; Zaválnij, 2018).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51206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5120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Métodos heurísticos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Greedy secuencial: Best in / Worst out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(Pardalos &amp; Xue, 1994).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Mejoras: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Búsqueda local (k-intercambios)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Randomized search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Búsqueda Tabú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Redes neuronales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Conjuntos Independientes Mínimos para poda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(Singh &amp; Govinda, 2014).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Variante teórica: Teorema de Motzkin–Straus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El MCP también admite una formulación como problema de optimización cuadrática continua sobre el simplex Δ: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468880"/>
            <a:ext cx="7589520" cy="1371600"/>
          </a:xfrm>
          <a:prstGeom prst="roundRect">
            <a:avLst/>
          </a:prstGeom>
          <a:solidFill>
            <a:srgbClr val="EAEAEA"/>
          </a:solidFill>
          <a:ln w="2540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265176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00367C"/>
                </a:solidFill>
                <a:latin typeface="Calibri"/>
              </a:defRPr>
            </a:pPr>
            <a:r>
              <a:t>½ ( 1 − 1/ω(G) )  =  máx     ½ xᵀ A 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donde A es la matriz de adyacencia y x ∈ Δ = {x ∈ Rⁿ : Σxᵢ = 1, xᵢ ≥ 0}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1153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Establece equivalencia exacta entre un problema combinatorio discreto y uno continuo no lineal.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Permite aplicar técnicas de programación cuadrática (QP).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En este trabajo se documenta por completitud — no se implementa.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Motivó extensiones modernas: relajaciones semidefinidas, variantes regularizadas.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Formulación del MCP como 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9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Variable de decisión binaria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333333"/>
                </a:solidFill>
                <a:latin typeface="Calibri"/>
              </a:defRPr>
            </a:pPr>
            <a:r>
              <a:t>xᵢ = 1  ⇔  vértice i ∈ clique           xᵢ = 0  en caso contrario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10972800" cy="914400"/>
          </a:xfrm>
          <a:prstGeom prst="round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367C"/>
                </a:solidFill>
                <a:latin typeface="Calibri"/>
              </a:defRPr>
            </a:pPr>
            <a:r>
              <a:t>Función objetivo:   máx   z = Σᵢ∈V  xᵢ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adyacencia: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+ xⱼ ≤ 1     ∀ (i,j) ∈ Ē     con Ē = pares NO adyacentes (i&lt;j)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integralidad: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∈ {0, 1}     ∀ i ∈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DA291C"/>
                </a:solidFill>
                <a:latin typeface="Calibri"/>
              </a:defRPr>
            </a:pPr>
            <a:r>
              <a:t>Si los vértices i, j no son adyacentes, no pueden estar ambos en el clique.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Implementación: Pyomo + HiGHS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10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274320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27432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Stack tecnológico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Python 3.12 — lenguaje de implementación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Pyomo 6.7 — modelado algebraico (declarativo)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HiGHS 1.7 — solver MIP de alto rendimiento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NetworkX 3.2 — manejo del grafo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Jupyter Notebook — reproducibilidad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274320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27432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Ventajas de Pyomo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Separación modelo–solver (cambiar a CPLEX/Gurobi = 1 línea)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Legibilidad: refleja la formulación matemática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Extensibilidad: agregar cortes o simetrías sin reescribir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11277295" cy="21945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109728" cy="21945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Por qué HiGHS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9204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Solver open-source de alto rendimiento (Universidad de Edimburgo).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Aplica internamente Branch &amp; Bound + planos de corte (Gomory, MIR)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+ heurísticas de factibilidad + estrategias de ramificación adaptativas.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Significativamente más rápido que GLPK en MIP densos (lo veremos).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Algoritmo Branch &amp; Bound (interno de HiGHS)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11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Inicialización: lista de subproblemas L = {P₀};  incumbente ẑ = 0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Mientras L ≠ ∅: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Tomar subproblema P y resolver su relajación LP → obtener (x', z')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Podar por infactibilidad si P no tiene solución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Podar por cota si z' ≤ ẑ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x' es entera, actualizar incumbente: ẑ ← z',  x* ← x'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no, ramificar sobre variable fraccionaria xₖ → {xₖ=0, xₖ=1}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Retornar (ẑ, x*)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5212080"/>
            <a:ext cx="8503920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521208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5349240"/>
            <a:ext cx="8138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Propiedad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5897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z*_ILP ≤ z*_LP    (la relajación da cota superior siempre)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Si la cota no mejora la incumbente → poda segura.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Instancia experimental: keller4 (DIMACS)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Grafo de la familia Keller, basado en la conjetura sobre teselaciones de R⁴ por hipercubos unitarios trasladados. Benchmark estándar para algoritmos MCP exactos.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0" y="2468880"/>
          <a:ext cx="7589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</a:tblGrid>
              <a:tr h="406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Propiedad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Vértices  (|V|)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Aristas  (|E|)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9 435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Densidad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0.6491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Clique máximo conocido (ω)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Aristas del complemento (|Ē|)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Variables binarias del ILP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Restricciones del ILP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Razón restricciones / variable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29.8 → modelo fuertemente restringido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Resultados: comparativa HiGHS vs GLPK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Mismo modelo ILP, ambos solvers ejecutados con Pyomo. Límite de tiempo GLPK = 300 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201168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HiGHS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GLPK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Mejor solución (ω)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 conocido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&gt; 300 s (timeout)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Factible (sin probar optimalidad)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371600" y="4572000"/>
            <a:ext cx="9418320" cy="182880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4572000"/>
            <a:ext cx="109728" cy="18288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709160"/>
            <a:ext cx="9052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Hallazgo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525780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Ambos solvers encuentran el clique óptimo ω=11.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Solo HiGHS prueba optimalidad en tiempo razonable.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Diferencia explicada por: preprocesamiento, cortes (Gomory/MIR),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heurísticas de factibilidad y ramificación adaptativa en HiGHS.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Análisis de la relajación 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Reemplazamos xᵢ ∈ {0,1} por xᵢ ∈ [0,1] y resolvemos el LP continuo.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0" y="2103120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Cota LP (relajación)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Solución entera (ILP)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Brecha de integralidad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87.1 %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371600" y="4297680"/>
            <a:ext cx="9418320" cy="210312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4297680"/>
            <a:ext cx="109728" cy="210312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434840"/>
            <a:ext cx="9052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Implicación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983480"/>
            <a:ext cx="8961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La cota LP es muy floja (87.1 % de brecha): no captura la combinatoria del problema.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→ El solver debe explorar un árbol B&amp;B extenso para cerrar la brecha.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Esta es una debilidad conocida de la formulación estándar del MCP.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Se aborda con cortes (HiGHS los aplica automáticamente).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Discusión y dificultades experimentales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4630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Dificultad 1 — Debilidad de la relajación 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Brecha del 87.1 % → árbol B&amp;B muy extenso.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Solución: delegar a HiGHS (cortes Gomory/MIR + heurísticas).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109728" cy="14630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Dificultad 2 — Falta de convergencia de GLPK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GLPK timeout en 300 s sin probar optimalidad.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Solución: HiGHS como solver principal; GLPK como punto de comparación.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7200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572000"/>
            <a:ext cx="109728" cy="14630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Dificultad 3 — Validación post-hoc del clique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Verificación: el subgrafo inducido por los 11 vértices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debe contener exactamente C(11,2) = 55 aristas, todas en 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3628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Conclusiones principales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Se obtuvo el óptimo conocido ω = 11 sobre keller4 en 12–18 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elección del solver es determinante: HiGHS &gt;&gt; GLPK en este tipo de modelos.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formulación ILP estándar es suficiente para instancias moderadas, pero su relajación LP es débil.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Pyomo permite traducir la formulación matemática a código sin perder claridad.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A291C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Implementar la metaheurística (Informe 2): algoritmo genético, tabú o GRASP.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Contrastar enfoque exacto vs. metaheurístico sobre múltiples familias DIMACS.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Explorar formulaciones reforzadas (desigualdades de clique, cortes odd-hole).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la formulación cuadrática de Motzkin–Straus.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Calibri"/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Optimización en Ingeniería — USACH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